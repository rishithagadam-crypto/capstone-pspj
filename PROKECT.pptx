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3"/>
    <p:sldId id="257" r:id="rId4"/>
    <p:sldId id="261" r:id="rId5"/>
    <p:sldId id="258" r:id="rId6"/>
    <p:sldId id="259" r:id="rId7"/>
    <p:sldId id="260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notesMaster" Target="notesMasters/notesMaster1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27AFC0-00B8-4117-895C-3E834B171036}" type="datetimeFigureOut">
              <a:rPr lang="en-IN" smtClean="0"/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3476CA-421D-4B57-8942-5762D93F1AB2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549C3-E12B-4CC2-9FA1-D4C0643B7241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</a:fld>
            <a:endParaRPr lang="en-IN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</a:fld>
            <a:endParaRPr lang="en-IN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BF378-8F16-492D-87B3-963C20ACF441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</a:fld>
            <a:endParaRPr lang="en-IN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9781E-9150-4561-9F7C-01394C55C5AE}" type="datetime1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</a:fld>
            <a:endParaRPr lang="en-IN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12896-961F-4F7A-B2DD-D0EFF57BA027}" type="datetime1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</a:fld>
            <a:endParaRPr lang="en-IN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51132-6BA4-40BC-AB03-D6B9C4F193FC}" type="datetime1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</a:fld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85D5E-B9E5-4C7E-88B1-43A66A7C3488}" type="datetime1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</a:fld>
            <a:endParaRPr lang="en-IN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BE2A2-8283-469E-B4A1-D6877668ECFE}" type="datetime1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</a:fld>
            <a:endParaRPr lang="en-IN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0A723-EDD4-4822-84BE-4B7F697B4E56}" type="datetime1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48764-2CC6-431B-B501-1DF197EE73CC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</a:fld>
            <a:endParaRPr lang="en-IN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EEFFA-3959-41FE-A774-B9B27FD8983C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0F4BF4-0D93-4F1E-82BB-778F1EDDD45F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012AB6-14AF-4351-87AD-D420B05274E1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C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val 12"/>
          <p:cNvSpPr/>
          <p:nvPr/>
        </p:nvSpPr>
        <p:spPr>
          <a:xfrm>
            <a:off x="9601200" y="3931920"/>
            <a:ext cx="3017520" cy="3017520"/>
          </a:xfrm>
          <a:prstGeom prst="ellipse">
            <a:avLst/>
          </a:prstGeom>
          <a:solidFill>
            <a:srgbClr val="4B8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arallelogram 11"/>
          <p:cNvSpPr/>
          <p:nvPr/>
        </p:nvSpPr>
        <p:spPr>
          <a:xfrm>
            <a:off x="7223760" y="0"/>
            <a:ext cx="4983480" cy="6858000"/>
          </a:xfrm>
          <a:prstGeom prst="parallelogram">
            <a:avLst/>
          </a:prstGeom>
          <a:solidFill>
            <a:srgbClr val="2243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pPr>
              <a:defRPr sz="3100" b="1">
                <a:solidFill>
                  <a:srgbClr val="162B4C"/>
                </a:solidFill>
                <a:latin typeface="Aptos"/>
              </a:defRPr>
            </a:pPr>
            <a:r>
              <a:rPr b="1">
                <a:solidFill>
                  <a:srgbClr val="FFFFFF"/>
                </a:solidFill>
              </a:rPr>
              <a:t>VENDING MACHINE</a:t>
            </a:r>
            <a:endParaRPr b="1">
              <a:solidFill>
                <a:srgbClr val="FFFFFF"/>
              </a:solidFill>
            </a:endParaRPr>
          </a:p>
          <a:p>
            <a:pPr>
              <a:defRPr sz="3100" b="1">
                <a:solidFill>
                  <a:srgbClr val="162B4C"/>
                </a:solidFill>
                <a:latin typeface="Aptos"/>
              </a:defRPr>
            </a:pPr>
            <a:r>
              <a:rPr b="1">
                <a:solidFill>
                  <a:srgbClr val="FFFFFF"/>
                </a:solidFill>
              </a:rPr>
              <a:t>CONTROLLER SIMULATOR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>
            <a:normAutofit/>
          </a:bodyPr>
          <a:lstStyle/>
          <a:p>
            <a:pPr>
              <a:defRPr sz="1800" b="0">
                <a:solidFill>
                  <a:srgbClr val="2B3340"/>
                </a:solidFill>
                <a:latin typeface="Aptos"/>
              </a:defRPr>
            </a:pPr>
            <a:r>
              <a:rPr dirty="0">
                <a:solidFill>
                  <a:srgbClr val="FFFFFF"/>
                </a:solidFill>
              </a:rPr>
              <a:t>Java Programming Project</a:t>
            </a:r>
            <a:endParaRPr dirty="0">
              <a:solidFill>
                <a:srgbClr val="FFFFFF"/>
              </a:solidFill>
            </a:endParaRPr>
          </a:p>
          <a:p>
            <a:pPr>
              <a:defRPr sz="1800" b="0">
                <a:solidFill>
                  <a:srgbClr val="2B3340"/>
                </a:solidFill>
                <a:latin typeface="Aptos"/>
              </a:defRPr>
            </a:pPr>
            <a:r>
              <a:rPr dirty="0">
                <a:solidFill>
                  <a:srgbClr val="FFFFFF"/>
                </a:solidFill>
              </a:rPr>
              <a:t>Team No: </a:t>
            </a:r>
            <a:r>
              <a:rPr lang="en-US" dirty="0">
                <a:solidFill>
                  <a:srgbClr val="FFFFFF"/>
                </a:solidFill>
              </a:rPr>
              <a:t>8</a:t>
            </a:r>
            <a:endParaRPr dirty="0">
              <a:solidFill>
                <a:srgbClr val="FFFFFF"/>
              </a:solidFill>
            </a:endParaRPr>
          </a:p>
          <a:p>
            <a:pPr>
              <a:defRPr sz="1800" b="0">
                <a:solidFill>
                  <a:srgbClr val="2B3340"/>
                </a:solidFill>
                <a:latin typeface="Aptos"/>
              </a:defRPr>
            </a:pPr>
            <a:r>
              <a:rPr dirty="0">
                <a:solidFill>
                  <a:srgbClr val="FFFFFF"/>
                </a:solidFill>
              </a:rPr>
              <a:t>Student Name </a:t>
            </a:r>
            <a:r>
              <a:rPr lang="en-US" dirty="0">
                <a:solidFill>
                  <a:srgbClr val="FFFFFF"/>
                </a:solidFill>
              </a:rPr>
              <a:t>: MANNAVA NISHITHA</a:t>
            </a:r>
            <a:r>
              <a:rPr lang="en-GB" altLang="en-US" dirty="0">
                <a:solidFill>
                  <a:srgbClr val="FFFFFF"/>
                </a:solidFill>
              </a:rPr>
              <a:t> </a:t>
            </a:r>
            <a:r>
              <a:rPr lang="en-US" dirty="0">
                <a:solidFill>
                  <a:srgbClr val="FFFFFF"/>
                </a:solidFill>
              </a:rPr>
              <a:t>(2620030113</a:t>
            </a:r>
            <a:r>
              <a:rPr lang="en-GB" altLang="en-US" dirty="0">
                <a:solidFill>
                  <a:srgbClr val="FFFFFF"/>
                </a:solidFill>
              </a:rPr>
              <a:t>)</a:t>
            </a:r>
            <a:endParaRPr dirty="0">
              <a:solidFill>
                <a:srgbClr val="FFFFFF"/>
              </a:solidFill>
            </a:endParaRPr>
          </a:p>
          <a:p>
            <a:pPr>
              <a:defRPr sz="1800" b="0">
                <a:solidFill>
                  <a:srgbClr val="2B3340"/>
                </a:solidFill>
                <a:latin typeface="Aptos"/>
              </a:defRPr>
            </a:pPr>
            <a:r>
              <a:rPr dirty="0">
                <a:solidFill>
                  <a:srgbClr val="FFFFFF"/>
                </a:solidFill>
              </a:rPr>
              <a:t>Student Name — </a:t>
            </a:r>
            <a:r>
              <a:rPr lang="en-US" dirty="0">
                <a:solidFill>
                  <a:srgbClr val="FFFFFF"/>
                </a:solidFill>
              </a:rPr>
              <a:t>RISHITHA GADDAM</a:t>
            </a:r>
            <a:r>
              <a:rPr lang="en-GB" altLang="en-US" dirty="0">
                <a:solidFill>
                  <a:srgbClr val="FFFFFF"/>
                </a:solidFill>
              </a:rPr>
              <a:t> </a:t>
            </a:r>
            <a:r>
              <a:rPr lang="en-US" dirty="0">
                <a:solidFill>
                  <a:srgbClr val="FFFFFF"/>
                </a:solidFill>
              </a:rPr>
              <a:t>(2620030062)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/>
          <a:p>
            <a:pPr>
              <a:defRPr sz="1100" b="0">
                <a:solidFill>
                  <a:srgbClr val="5E6978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15 October 2026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/>
          <a:p>
            <a:pPr>
              <a:defRPr sz="1000" b="0">
                <a:solidFill>
                  <a:srgbClr val="5E6978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1</a:t>
            </a:r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233D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109728"/>
            <a:ext cx="91440" cy="6748272"/>
          </a:xfrm>
          <a:prstGeom prst="rect">
            <a:avLst/>
          </a:prstGeom>
          <a:solidFill>
            <a:srgbClr val="487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6510528"/>
            <a:ext cx="5303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BF3FF"/>
                </a:solidFill>
              </a:rPr>
              <a:t>VENDING MACHINE CONTROLLER SIMULATOR</a:t>
            </a:r>
            <a:endParaRPr sz="800" b="1">
              <a:solidFill>
                <a:srgbClr val="EBF3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C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8"/>
          <p:cNvSpPr/>
          <p:nvPr/>
        </p:nvSpPr>
        <p:spPr>
          <a:xfrm>
            <a:off x="9601200" y="3931920"/>
            <a:ext cx="3017520" cy="3017520"/>
          </a:xfrm>
          <a:prstGeom prst="ellipse">
            <a:avLst/>
          </a:prstGeom>
          <a:solidFill>
            <a:srgbClr val="4B8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arallelogram 7"/>
          <p:cNvSpPr/>
          <p:nvPr/>
        </p:nvSpPr>
        <p:spPr>
          <a:xfrm>
            <a:off x="7223760" y="0"/>
            <a:ext cx="4983480" cy="6858000"/>
          </a:xfrm>
          <a:prstGeom prst="parallelogram">
            <a:avLst/>
          </a:prstGeom>
          <a:solidFill>
            <a:srgbClr val="2243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0976" y="865505"/>
            <a:ext cx="10789920" cy="868680"/>
          </a:xfrm>
        </p:spPr>
        <p:txBody>
          <a:bodyPr wrap="square"/>
          <a:lstStyle/>
          <a:p>
            <a:pPr>
              <a:defRPr sz="2800" b="1">
                <a:solidFill>
                  <a:srgbClr val="162B4C"/>
                </a:solidFill>
                <a:latin typeface="Aptos"/>
              </a:defRPr>
            </a:pPr>
            <a:r>
              <a:rPr b="1" dirty="0">
                <a:solidFill>
                  <a:srgbClr val="FFFFFF"/>
                </a:solidFill>
              </a:rPr>
              <a:t>Abstract</a:t>
            </a:r>
            <a:endParaRPr b="1" dirty="0">
              <a:solidFill>
                <a:srgbClr val="FFFF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146304" tIns="109728" rIns="146304" bIns="73152"/>
          <a:lstStyle/>
          <a:p>
            <a:pPr>
              <a:spcAft>
                <a:spcPts val="1000"/>
              </a:spcAft>
              <a:defRPr sz="2200" b="1">
                <a:solidFill>
                  <a:srgbClr val="1F9196"/>
                </a:solidFill>
                <a:latin typeface="Aptos Display"/>
              </a:defRPr>
            </a:pPr>
            <a:r>
              <a:rPr>
                <a:solidFill>
                  <a:srgbClr val="FFFFFF"/>
                </a:solidFill>
              </a:rPr>
              <a:t>Project overview</a:t>
            </a:r>
            <a:endParaRPr lang="en-IN"/>
          </a:p>
          <a:p>
            <a:pPr>
              <a:spcAft>
                <a:spcPts val="700"/>
              </a:spcAft>
              <a:defRPr sz="1800">
                <a:solidFill>
                  <a:srgbClr val="2B3340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A console-based Java simulation of a vending machine.</a:t>
            </a:r>
            <a:endParaRPr>
              <a:solidFill>
                <a:srgbClr val="FFFFFF"/>
              </a:solidFill>
            </a:endParaRPr>
          </a:p>
          <a:p>
            <a:pPr>
              <a:spcAft>
                <a:spcPts val="700"/>
              </a:spcAft>
              <a:defRPr sz="1800">
                <a:solidFill>
                  <a:srgbClr val="2B3340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Offers Water (Rs.20), Chips (Rs.30), Juice (Rs.40) and Chocolate (Rs.50).</a:t>
            </a:r>
            <a:endParaRPr>
              <a:solidFill>
                <a:srgbClr val="FFFFFF"/>
              </a:solidFill>
            </a:endParaRPr>
          </a:p>
          <a:p>
            <a:pPr>
              <a:spcAft>
                <a:spcPts val="700"/>
              </a:spcAft>
              <a:defRPr sz="1800">
                <a:solidFill>
                  <a:srgbClr val="2B3340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Accepts a product choice and payment amount, then checks whether payment is sufficient.</a:t>
            </a:r>
            <a:endParaRPr>
              <a:solidFill>
                <a:srgbClr val="FFFFFF"/>
              </a:solidFill>
            </a:endParaRPr>
          </a:p>
          <a:p>
            <a:pPr>
              <a:spcAft>
                <a:spcPts val="700"/>
              </a:spcAft>
              <a:defRPr sz="1800">
                <a:solidFill>
                  <a:srgbClr val="2B3340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Calculates change for successful purchases and reports any shortfall.</a:t>
            </a:r>
            <a:endParaRPr>
              <a:solidFill>
                <a:srgbClr val="FFFFFF"/>
              </a:solidFill>
            </a:endParaRPr>
          </a:p>
          <a:p>
            <a:pPr>
              <a:spcAft>
                <a:spcPts val="700"/>
              </a:spcAft>
              <a:defRPr sz="1800">
                <a:solidFill>
                  <a:srgbClr val="2B3340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Appends successful transaction details to transactions.txt.</a:t>
            </a:r>
            <a:endParaRPr>
              <a:solidFill>
                <a:srgbClr val="FFFFFF"/>
              </a:solidFill>
            </a:endParaRPr>
          </a:p>
          <a:p>
            <a:pPr>
              <a:spcBef>
                <a:spcPts val="800"/>
              </a:spcBef>
              <a:defRPr sz="1400" i="1">
                <a:solidFill>
                  <a:srgbClr val="5E6978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Scope: a learning prototype; it does not connect to real payment hardware or physical dispensing equipment.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/>
          <a:p>
            <a:pPr>
              <a:defRPr sz="1000" b="0">
                <a:solidFill>
                  <a:srgbClr val="5E6978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15-10-2026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/>
          <a:p>
            <a:pPr>
              <a:defRPr sz="1000" b="0">
                <a:solidFill>
                  <a:srgbClr val="5E6978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2</a:t>
            </a:r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233D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09728"/>
            <a:ext cx="91440" cy="6748272"/>
          </a:xfrm>
          <a:prstGeom prst="rect">
            <a:avLst/>
          </a:prstGeom>
          <a:solidFill>
            <a:srgbClr val="487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510528"/>
            <a:ext cx="5303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BF3FF"/>
                </a:solidFill>
              </a:rPr>
              <a:t>VENDING MACHINE CONTROLLER SIMULATOR</a:t>
            </a:r>
            <a:endParaRPr sz="800" b="1">
              <a:solidFill>
                <a:srgbClr val="EBF3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C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8"/>
          <p:cNvSpPr/>
          <p:nvPr/>
        </p:nvSpPr>
        <p:spPr>
          <a:xfrm>
            <a:off x="9601200" y="3931920"/>
            <a:ext cx="3017520" cy="3017520"/>
          </a:xfrm>
          <a:prstGeom prst="ellipse">
            <a:avLst/>
          </a:prstGeom>
          <a:solidFill>
            <a:srgbClr val="4B8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arallelogram 7"/>
          <p:cNvSpPr/>
          <p:nvPr/>
        </p:nvSpPr>
        <p:spPr>
          <a:xfrm>
            <a:off x="7223760" y="0"/>
            <a:ext cx="4983480" cy="6858000"/>
          </a:xfrm>
          <a:prstGeom prst="parallelogram">
            <a:avLst/>
          </a:prstGeom>
          <a:solidFill>
            <a:srgbClr val="2243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65505"/>
            <a:ext cx="10789920" cy="868680"/>
          </a:xfrm>
        </p:spPr>
        <p:txBody>
          <a:bodyPr wrap="square"/>
          <a:lstStyle/>
          <a:p>
            <a:pPr>
              <a:defRPr sz="2800" b="1">
                <a:solidFill>
                  <a:srgbClr val="162B4C"/>
                </a:solidFill>
                <a:latin typeface="Aptos"/>
              </a:defRPr>
            </a:pPr>
            <a:r>
              <a:rPr b="1" dirty="0">
                <a:solidFill>
                  <a:srgbClr val="FFFFFF"/>
                </a:solidFill>
              </a:rPr>
              <a:t>Understanding the Problem Statement</a:t>
            </a:r>
            <a:endParaRPr b="1" dirty="0">
              <a:solidFill>
                <a:srgbClr val="FFFF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146304" tIns="109728" rIns="146304" bIns="73152"/>
          <a:lstStyle/>
          <a:p>
            <a:pPr>
              <a:spcAft>
                <a:spcPts val="1000"/>
              </a:spcAft>
              <a:defRPr sz="2200" b="1">
                <a:solidFill>
                  <a:srgbClr val="1F9196"/>
                </a:solidFill>
                <a:latin typeface="Aptos Display"/>
              </a:defRPr>
            </a:pPr>
            <a:r>
              <a:rPr>
                <a:solidFill>
                  <a:srgbClr val="FFFFFF"/>
                </a:solidFill>
              </a:rPr>
              <a:t>Problem to solve</a:t>
            </a:r>
            <a:endParaRPr lang="en-IN"/>
          </a:p>
          <a:p>
            <a:pPr>
              <a:spcAft>
                <a:spcPts val="700"/>
              </a:spcAft>
              <a:defRPr sz="1700">
                <a:solidFill>
                  <a:srgbClr val="2B3340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A user needs a clear menu with fixed product prices.</a:t>
            </a:r>
            <a:endParaRPr>
              <a:solidFill>
                <a:srgbClr val="FFFFFF"/>
              </a:solidFill>
            </a:endParaRPr>
          </a:p>
          <a:p>
            <a:pPr>
              <a:spcAft>
                <a:spcPts val="700"/>
              </a:spcAft>
              <a:defRPr sz="1700">
                <a:solidFill>
                  <a:srgbClr val="2B3340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The program must reject invalid menu choices safely.</a:t>
            </a:r>
            <a:endParaRPr>
              <a:solidFill>
                <a:srgbClr val="FFFFFF"/>
              </a:solidFill>
            </a:endParaRPr>
          </a:p>
          <a:p>
            <a:pPr>
              <a:spcAft>
                <a:spcPts val="700"/>
              </a:spcAft>
              <a:defRPr sz="1700">
                <a:solidFill>
                  <a:srgbClr val="2B3340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It must compare the entered amount with the selected product price.</a:t>
            </a:r>
            <a:endParaRPr>
              <a:solidFill>
                <a:srgbClr val="FFFFFF"/>
              </a:solidFill>
            </a:endParaRPr>
          </a:p>
          <a:p>
            <a:pPr>
              <a:spcAft>
                <a:spcPts val="700"/>
              </a:spcAft>
              <a:defRPr sz="1700">
                <a:solidFill>
                  <a:srgbClr val="2B3340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For sufficient payment, it should show success and calculate change.</a:t>
            </a:r>
            <a:endParaRPr>
              <a:solidFill>
                <a:srgbClr val="FFFFFF"/>
              </a:solidFill>
            </a:endParaRPr>
          </a:p>
          <a:p>
            <a:pPr>
              <a:spcAft>
                <a:spcPts val="700"/>
              </a:spcAft>
              <a:defRPr sz="1700">
                <a:solidFill>
                  <a:srgbClr val="2B3340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For insufficient payment, it should explain how much more is required.</a:t>
            </a:r>
            <a:endParaRPr>
              <a:solidFill>
                <a:srgbClr val="FFFFFF"/>
              </a:solidFill>
            </a:endParaRPr>
          </a:p>
          <a:p>
            <a:pPr>
              <a:spcAft>
                <a:spcPts val="700"/>
              </a:spcAft>
              <a:defRPr sz="1700">
                <a:solidFill>
                  <a:srgbClr val="2B3340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Successful purchases should be recorded for later review.</a:t>
            </a:r>
            <a:endParaRPr>
              <a:solidFill>
                <a:srgbClr val="FFFFFF"/>
              </a:solidFill>
            </a:endParaRPr>
          </a:p>
          <a:p>
            <a:pPr>
              <a:spcBef>
                <a:spcPts val="800"/>
              </a:spcBef>
              <a:defRPr sz="1400" i="1">
                <a:solidFill>
                  <a:srgbClr val="5E6978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Expected result: a simple, repeatable purchase flow with understandable messages.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/>
          <a:p>
            <a:pPr>
              <a:defRPr sz="1000" b="0">
                <a:solidFill>
                  <a:srgbClr val="5E6978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15-10-2026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/>
          <a:p>
            <a:pPr>
              <a:defRPr sz="1000" b="0">
                <a:solidFill>
                  <a:srgbClr val="5E6978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3</a:t>
            </a:r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233D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09728"/>
            <a:ext cx="91440" cy="6748272"/>
          </a:xfrm>
          <a:prstGeom prst="rect">
            <a:avLst/>
          </a:prstGeom>
          <a:solidFill>
            <a:srgbClr val="487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510528"/>
            <a:ext cx="5303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BF3FF"/>
                </a:solidFill>
              </a:rPr>
              <a:t>VENDING MACHINE CONTROLLER SIMULATOR</a:t>
            </a:r>
            <a:endParaRPr sz="800" b="1">
              <a:solidFill>
                <a:srgbClr val="EBF3FF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C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8"/>
          <p:cNvSpPr/>
          <p:nvPr/>
        </p:nvSpPr>
        <p:spPr>
          <a:xfrm>
            <a:off x="9601200" y="3931920"/>
            <a:ext cx="3017520" cy="3017520"/>
          </a:xfrm>
          <a:prstGeom prst="ellipse">
            <a:avLst/>
          </a:prstGeom>
          <a:solidFill>
            <a:srgbClr val="4B8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arallelogram 7"/>
          <p:cNvSpPr/>
          <p:nvPr/>
        </p:nvSpPr>
        <p:spPr>
          <a:xfrm>
            <a:off x="7223760" y="0"/>
            <a:ext cx="4983480" cy="6858000"/>
          </a:xfrm>
          <a:prstGeom prst="parallelogram">
            <a:avLst/>
          </a:prstGeom>
          <a:solidFill>
            <a:srgbClr val="2243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67252"/>
            <a:ext cx="10789920" cy="868680"/>
          </a:xfrm>
        </p:spPr>
        <p:txBody>
          <a:bodyPr wrap="square"/>
          <a:lstStyle/>
          <a:p>
            <a:pPr>
              <a:defRPr sz="2800" b="1">
                <a:solidFill>
                  <a:srgbClr val="162B4C"/>
                </a:solidFill>
                <a:latin typeface="Aptos"/>
              </a:defRPr>
            </a:pPr>
            <a:r>
              <a:rPr b="1" dirty="0">
                <a:solidFill>
                  <a:srgbClr val="FFFFFF"/>
                </a:solidFill>
              </a:rPr>
              <a:t>CO 1 Topics • Java Foundations</a:t>
            </a:r>
            <a:endParaRPr b="1" dirty="0">
              <a:solidFill>
                <a:srgbClr val="FFFF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146304" tIns="109728" rIns="146304" bIns="73152"/>
          <a:lstStyle/>
          <a:p>
            <a:pPr>
              <a:spcAft>
                <a:spcPts val="1000"/>
              </a:spcAft>
              <a:defRPr sz="2200" b="1">
                <a:solidFill>
                  <a:srgbClr val="1F9196"/>
                </a:solidFill>
                <a:latin typeface="Aptos Display"/>
              </a:defRPr>
            </a:pPr>
            <a:r>
              <a:rPr>
                <a:solidFill>
                  <a:srgbClr val="FFFFFF"/>
                </a:solidFill>
              </a:rPr>
              <a:t>CO 1 • Java foundations</a:t>
            </a:r>
            <a:endParaRPr lang="en-IN"/>
          </a:p>
          <a:p>
            <a:pPr>
              <a:spcAft>
                <a:spcPts val="700"/>
              </a:spcAft>
              <a:defRPr sz="1800">
                <a:solidFill>
                  <a:srgbClr val="2B3340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Variables: choice, amount, change and continueChoice store the current transaction state.</a:t>
            </a:r>
            <a:endParaRPr>
              <a:solidFill>
                <a:srgbClr val="FFFFFF"/>
              </a:solidFill>
            </a:endParaRPr>
          </a:p>
          <a:p>
            <a:pPr>
              <a:spcAft>
                <a:spcPts val="700"/>
              </a:spcAft>
              <a:defRPr sz="1800">
                <a:solidFill>
                  <a:srgbClr val="2B3340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Primitive data type: int stores menu selections and whole-number rupee amounts.</a:t>
            </a:r>
            <a:endParaRPr>
              <a:solidFill>
                <a:srgbClr val="FFFFFF"/>
              </a:solidFill>
            </a:endParaRPr>
          </a:p>
          <a:p>
            <a:pPr>
              <a:spcAft>
                <a:spcPts val="700"/>
              </a:spcAft>
              <a:defRPr sz="1800">
                <a:solidFill>
                  <a:srgbClr val="2B3340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Console I/O: Scanner reads keyboard input; System.out prints the menu and results.</a:t>
            </a:r>
            <a:endParaRPr>
              <a:solidFill>
                <a:srgbClr val="FFFFFF"/>
              </a:solidFill>
            </a:endParaRPr>
          </a:p>
          <a:p>
            <a:pPr>
              <a:spcAft>
                <a:spcPts val="700"/>
              </a:spcAft>
              <a:defRPr sz="1800">
                <a:solidFill>
                  <a:srgbClr val="2B3340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Operators: = assigns values, == compares equality, &gt;= checks sufficient payment, and - calculates change.</a:t>
            </a:r>
            <a:endParaRPr>
              <a:solidFill>
                <a:srgbClr val="FFFFFF"/>
              </a:solidFill>
            </a:endParaRPr>
          </a:p>
          <a:p>
            <a:pPr>
              <a:spcAft>
                <a:spcPts val="700"/>
              </a:spcAft>
              <a:defRPr sz="1800">
                <a:solidFill>
                  <a:srgbClr val="2B3340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Product prices are initialized as integer values.</a:t>
            </a:r>
            <a:endParaRPr>
              <a:solidFill>
                <a:srgbClr val="FFFFFF"/>
              </a:solidFill>
            </a:endParaRPr>
          </a:p>
          <a:p>
            <a:pPr>
              <a:spcBef>
                <a:spcPts val="800"/>
              </a:spcBef>
              <a:defRPr sz="1400" i="1">
                <a:solidFill>
                  <a:srgbClr val="5E6978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Example: change = amount - selected.price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/>
          <a:p>
            <a:pPr>
              <a:defRPr sz="1000" b="0">
                <a:solidFill>
                  <a:srgbClr val="5E6978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15-10-2026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/>
          <a:p>
            <a:pPr>
              <a:defRPr sz="1000" b="0">
                <a:solidFill>
                  <a:srgbClr val="5E6978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4</a:t>
            </a:r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233D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09728"/>
            <a:ext cx="91440" cy="6748272"/>
          </a:xfrm>
          <a:prstGeom prst="rect">
            <a:avLst/>
          </a:prstGeom>
          <a:solidFill>
            <a:srgbClr val="487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510528"/>
            <a:ext cx="5303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BF3FF"/>
                </a:solidFill>
              </a:rPr>
              <a:t>VENDING MACHINE CONTROLLER SIMULATOR</a:t>
            </a:r>
            <a:endParaRPr sz="800" b="1">
              <a:solidFill>
                <a:srgbClr val="EBF3FF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C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8"/>
          <p:cNvSpPr/>
          <p:nvPr/>
        </p:nvSpPr>
        <p:spPr>
          <a:xfrm>
            <a:off x="9601200" y="3931920"/>
            <a:ext cx="3017520" cy="3017520"/>
          </a:xfrm>
          <a:prstGeom prst="ellipse">
            <a:avLst/>
          </a:prstGeom>
          <a:solidFill>
            <a:srgbClr val="4B8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arallelogram 7"/>
          <p:cNvSpPr/>
          <p:nvPr/>
        </p:nvSpPr>
        <p:spPr>
          <a:xfrm>
            <a:off x="7223760" y="0"/>
            <a:ext cx="4983480" cy="6858000"/>
          </a:xfrm>
          <a:prstGeom prst="parallelogram">
            <a:avLst/>
          </a:prstGeom>
          <a:solidFill>
            <a:srgbClr val="2243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20420"/>
            <a:ext cx="10789920" cy="868680"/>
          </a:xfrm>
        </p:spPr>
        <p:txBody>
          <a:bodyPr wrap="square"/>
          <a:lstStyle/>
          <a:p>
            <a:pPr>
              <a:defRPr sz="2800" b="1">
                <a:solidFill>
                  <a:srgbClr val="162B4C"/>
                </a:solidFill>
                <a:latin typeface="Aptos"/>
              </a:defRPr>
            </a:pPr>
            <a:r>
              <a:rPr b="1" dirty="0">
                <a:solidFill>
                  <a:srgbClr val="FFFFFF"/>
                </a:solidFill>
              </a:rPr>
              <a:t>CO 2 Topics • Control Flow</a:t>
            </a:r>
            <a:endParaRPr b="1" dirty="0">
              <a:solidFill>
                <a:srgbClr val="FFFF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146304" tIns="109728" rIns="146304" bIns="73152"/>
          <a:lstStyle/>
          <a:p>
            <a:pPr>
              <a:spcAft>
                <a:spcPts val="1000"/>
              </a:spcAft>
              <a:defRPr sz="2200" b="1">
                <a:solidFill>
                  <a:srgbClr val="1F9196"/>
                </a:solidFill>
                <a:latin typeface="Aptos Display"/>
              </a:defRPr>
            </a:pPr>
            <a:r>
              <a:rPr>
                <a:solidFill>
                  <a:srgbClr val="FFFFFF"/>
                </a:solidFill>
              </a:rPr>
              <a:t>CO 2 • Selection and iteration</a:t>
            </a:r>
            <a:endParaRPr lang="en-IN"/>
          </a:p>
          <a:p>
            <a:pPr>
              <a:spcAft>
                <a:spcPts val="700"/>
              </a:spcAft>
              <a:defRPr sz="1800">
                <a:solidFill>
                  <a:srgbClr val="2B3340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while (continueChoice == 1) repeats the purchase process.</a:t>
            </a:r>
            <a:endParaRPr>
              <a:solidFill>
                <a:srgbClr val="FFFFFF"/>
              </a:solidFill>
            </a:endParaRPr>
          </a:p>
          <a:p>
            <a:pPr>
              <a:spcAft>
                <a:spcPts val="700"/>
              </a:spcAft>
              <a:defRPr sz="1800">
                <a:solidFill>
                  <a:srgbClr val="2B3340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for loop traverses the Product array and displays every product.</a:t>
            </a:r>
            <a:endParaRPr>
              <a:solidFill>
                <a:srgbClr val="FFFFFF"/>
              </a:solidFill>
            </a:endParaRPr>
          </a:p>
          <a:p>
            <a:pPr>
              <a:spcAft>
                <a:spcPts val="700"/>
              </a:spcAft>
              <a:defRPr sz="1800">
                <a:solidFill>
                  <a:srgbClr val="2B3340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if checks whether the user selected Exit or entered an invalid choice.</a:t>
            </a:r>
            <a:endParaRPr>
              <a:solidFill>
                <a:srgbClr val="FFFFFF"/>
              </a:solidFill>
            </a:endParaRPr>
          </a:p>
          <a:p>
            <a:pPr>
              <a:spcAft>
                <a:spcPts val="700"/>
              </a:spcAft>
              <a:defRPr sz="1800">
                <a:solidFill>
                  <a:srgbClr val="2B3340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if-else chooses between successful payment and insufficient payment.</a:t>
            </a:r>
            <a:endParaRPr>
              <a:solidFill>
                <a:srgbClr val="FFFFFF"/>
              </a:solidFill>
            </a:endParaRPr>
          </a:p>
          <a:p>
            <a:pPr>
              <a:spcAft>
                <a:spcPts val="700"/>
              </a:spcAft>
              <a:defRPr sz="1800">
                <a:solidFill>
                  <a:srgbClr val="2B3340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break exits the purchase loop; continue returns to the next menu iteration.</a:t>
            </a:r>
            <a:endParaRPr>
              <a:solidFill>
                <a:srgbClr val="FFFFFF"/>
              </a:solidFill>
            </a:endParaRPr>
          </a:p>
          <a:p>
            <a:pPr>
              <a:spcBef>
                <a:spcPts val="800"/>
              </a:spcBef>
              <a:defRPr sz="1400" i="1">
                <a:solidFill>
                  <a:srgbClr val="5E6978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These control-flow statements define the machine's decision-making.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/>
          <a:p>
            <a:pPr>
              <a:defRPr sz="1000" b="0">
                <a:solidFill>
                  <a:srgbClr val="5E6978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15-10-2026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/>
          <a:p>
            <a:pPr>
              <a:defRPr sz="1000" b="0">
                <a:solidFill>
                  <a:srgbClr val="5E6978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5</a:t>
            </a:r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233D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09728"/>
            <a:ext cx="91440" cy="6748272"/>
          </a:xfrm>
          <a:prstGeom prst="rect">
            <a:avLst/>
          </a:prstGeom>
          <a:solidFill>
            <a:srgbClr val="487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510528"/>
            <a:ext cx="5303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BF3FF"/>
                </a:solidFill>
              </a:rPr>
              <a:t>VENDING MACHINE CONTROLLER SIMULATOR</a:t>
            </a:r>
            <a:endParaRPr sz="800" b="1">
              <a:solidFill>
                <a:srgbClr val="EBF3FF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C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8"/>
          <p:cNvSpPr/>
          <p:nvPr/>
        </p:nvSpPr>
        <p:spPr>
          <a:xfrm>
            <a:off x="9601200" y="3931920"/>
            <a:ext cx="3017520" cy="3017520"/>
          </a:xfrm>
          <a:prstGeom prst="ellipse">
            <a:avLst/>
          </a:prstGeom>
          <a:solidFill>
            <a:srgbClr val="4B8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arallelogram 7"/>
          <p:cNvSpPr/>
          <p:nvPr/>
        </p:nvSpPr>
        <p:spPr>
          <a:xfrm>
            <a:off x="7223760" y="0"/>
            <a:ext cx="4983480" cy="6858000"/>
          </a:xfrm>
          <a:prstGeom prst="parallelogram">
            <a:avLst/>
          </a:prstGeom>
          <a:solidFill>
            <a:srgbClr val="2243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1040" y="879856"/>
            <a:ext cx="10789920" cy="868680"/>
          </a:xfrm>
        </p:spPr>
        <p:txBody>
          <a:bodyPr wrap="square"/>
          <a:lstStyle/>
          <a:p>
            <a:pPr>
              <a:defRPr sz="2800" b="1">
                <a:solidFill>
                  <a:srgbClr val="162B4C"/>
                </a:solidFill>
                <a:latin typeface="Aptos"/>
              </a:defRPr>
            </a:pPr>
            <a:r>
              <a:rPr b="1">
                <a:solidFill>
                  <a:srgbClr val="FFFFFF"/>
                </a:solidFill>
              </a:rPr>
              <a:t>CO 3 Topics • Methods &amp; Arrays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146304" tIns="109728" rIns="146304" bIns="73152"/>
          <a:lstStyle/>
          <a:p>
            <a:pPr>
              <a:spcAft>
                <a:spcPts val="1000"/>
              </a:spcAft>
              <a:defRPr sz="2200" b="1">
                <a:solidFill>
                  <a:srgbClr val="1F9196"/>
                </a:solidFill>
                <a:latin typeface="Aptos Display"/>
              </a:defRPr>
            </a:pPr>
            <a:r>
              <a:rPr>
                <a:solidFill>
                  <a:srgbClr val="FFFFFF"/>
                </a:solidFill>
              </a:rPr>
              <a:t>CO 3 • Methods and arrays</a:t>
            </a:r>
            <a:endParaRPr lang="en-IN"/>
          </a:p>
          <a:p>
            <a:pPr>
              <a:spcAft>
                <a:spcPts val="700"/>
              </a:spcAft>
              <a:defRPr sz="1800">
                <a:solidFill>
                  <a:srgbClr val="2B3340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Product[] p stores four Product objects in one array.</a:t>
            </a:r>
            <a:endParaRPr>
              <a:solidFill>
                <a:srgbClr val="FFFFFF"/>
              </a:solidFill>
            </a:endParaRPr>
          </a:p>
          <a:p>
            <a:pPr>
              <a:spcAft>
                <a:spcPts val="700"/>
              </a:spcAft>
              <a:defRPr sz="1800">
                <a:solidFill>
                  <a:srgbClr val="2B3340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Array indexes begin at 0, so choice - 1 maps menu choices 1–4 to array positions 0–3.</a:t>
            </a:r>
            <a:endParaRPr>
              <a:solidFill>
                <a:srgbClr val="FFFFFF"/>
              </a:solidFill>
            </a:endParaRPr>
          </a:p>
          <a:p>
            <a:pPr>
              <a:spcAft>
                <a:spcPts val="700"/>
              </a:spcAft>
              <a:defRPr sz="1800">
                <a:solidFill>
                  <a:srgbClr val="2B3340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The askAgain(Scanner sc) method displays the repeat-purchase question.</a:t>
            </a:r>
            <a:endParaRPr>
              <a:solidFill>
                <a:srgbClr val="FFFFFF"/>
              </a:solidFill>
            </a:endParaRPr>
          </a:p>
          <a:p>
            <a:pPr>
              <a:spcAft>
                <a:spcPts val="700"/>
              </a:spcAft>
              <a:defRPr sz="1800">
                <a:solidFill>
                  <a:srgbClr val="2B3340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The method returns an int that controls whether the while loop continues.</a:t>
            </a:r>
            <a:endParaRPr>
              <a:solidFill>
                <a:srgbClr val="FFFFFF"/>
              </a:solidFill>
            </a:endParaRPr>
          </a:p>
          <a:p>
            <a:pPr>
              <a:spcAft>
                <a:spcPts val="700"/>
              </a:spcAft>
              <a:defRPr sz="1800">
                <a:solidFill>
                  <a:srgbClr val="2B3340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Passing sc as a parameter lets the method reuse the same input reader.</a:t>
            </a:r>
            <a:endParaRPr>
              <a:solidFill>
                <a:srgbClr val="FFFFFF"/>
              </a:solidFill>
            </a:endParaRPr>
          </a:p>
          <a:p>
            <a:pPr>
              <a:spcBef>
                <a:spcPts val="800"/>
              </a:spcBef>
              <a:defRPr sz="1400" i="1">
                <a:solidFill>
                  <a:srgbClr val="5E6978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Example: choice 3 selects p[2], which represents Juice.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/>
          <a:p>
            <a:pPr>
              <a:defRPr sz="1000" b="0">
                <a:solidFill>
                  <a:srgbClr val="5E6978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15-10-2026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/>
          <a:p>
            <a:pPr>
              <a:defRPr sz="1000" b="0">
                <a:solidFill>
                  <a:srgbClr val="5E6978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6</a:t>
            </a:r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233D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09728"/>
            <a:ext cx="91440" cy="6748272"/>
          </a:xfrm>
          <a:prstGeom prst="rect">
            <a:avLst/>
          </a:prstGeom>
          <a:solidFill>
            <a:srgbClr val="487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510528"/>
            <a:ext cx="5303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BF3FF"/>
                </a:solidFill>
              </a:rPr>
              <a:t>VENDING MACHINE CONTROLLER SIMULATOR</a:t>
            </a:r>
            <a:endParaRPr sz="800" b="1">
              <a:solidFill>
                <a:srgbClr val="EBF3FF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C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8"/>
          <p:cNvSpPr/>
          <p:nvPr/>
        </p:nvSpPr>
        <p:spPr>
          <a:xfrm>
            <a:off x="9601200" y="3931920"/>
            <a:ext cx="3017520" cy="3017520"/>
          </a:xfrm>
          <a:prstGeom prst="ellipse">
            <a:avLst/>
          </a:prstGeom>
          <a:solidFill>
            <a:srgbClr val="4B8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arallelogram 7"/>
          <p:cNvSpPr/>
          <p:nvPr/>
        </p:nvSpPr>
        <p:spPr>
          <a:xfrm>
            <a:off x="7223760" y="0"/>
            <a:ext cx="4983480" cy="6858000"/>
          </a:xfrm>
          <a:prstGeom prst="parallelogram">
            <a:avLst/>
          </a:prstGeom>
          <a:solidFill>
            <a:srgbClr val="2243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1040" y="879856"/>
            <a:ext cx="10789920" cy="868680"/>
          </a:xfrm>
        </p:spPr>
        <p:txBody>
          <a:bodyPr wrap="square"/>
          <a:lstStyle/>
          <a:p>
            <a:pPr>
              <a:defRPr sz="2800" b="1">
                <a:solidFill>
                  <a:srgbClr val="162B4C"/>
                </a:solidFill>
                <a:latin typeface="Aptos"/>
              </a:defRPr>
            </a:pPr>
            <a:r>
              <a:rPr b="1" dirty="0">
                <a:solidFill>
                  <a:srgbClr val="FFFFFF"/>
                </a:solidFill>
              </a:rPr>
              <a:t>CO 4 • OOP &amp; Exception Handling</a:t>
            </a:r>
            <a:endParaRPr b="1" dirty="0">
              <a:solidFill>
                <a:srgbClr val="FFFF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146304" tIns="109728" rIns="146304" bIns="73152"/>
          <a:lstStyle/>
          <a:p>
            <a:pPr>
              <a:spcAft>
                <a:spcPts val="1000"/>
              </a:spcAft>
              <a:defRPr sz="2200" b="1">
                <a:solidFill>
                  <a:srgbClr val="1F9196"/>
                </a:solidFill>
                <a:latin typeface="Aptos Display"/>
              </a:defRPr>
            </a:pPr>
            <a:r>
              <a:rPr>
                <a:solidFill>
                  <a:srgbClr val="FFFFFF"/>
                </a:solidFill>
              </a:rPr>
              <a:t>CO 4 • Object-oriented programming &amp; exceptions</a:t>
            </a:r>
            <a:endParaRPr lang="en-IN"/>
          </a:p>
          <a:p>
            <a:pPr>
              <a:spcAft>
                <a:spcPts val="700"/>
              </a:spcAft>
              <a:defRPr sz="1800">
                <a:solidFill>
                  <a:srgbClr val="2B3340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Product is a class that models a product using name and price fields.</a:t>
            </a:r>
            <a:endParaRPr>
              <a:solidFill>
                <a:srgbClr val="FFFFFF"/>
              </a:solidFill>
            </a:endParaRPr>
          </a:p>
          <a:p>
            <a:pPr>
              <a:spcAft>
                <a:spcPts val="700"/>
              </a:spcAft>
              <a:defRPr sz="1800">
                <a:solidFill>
                  <a:srgbClr val="2B3340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The parameterized constructor Product(String name, int price) initializes each object.</a:t>
            </a:r>
            <a:endParaRPr>
              <a:solidFill>
                <a:srgbClr val="FFFFFF"/>
              </a:solidFill>
            </a:endParaRPr>
          </a:p>
          <a:p>
            <a:pPr>
              <a:spcAft>
                <a:spcPts val="700"/>
              </a:spcAft>
              <a:defRPr sz="1800">
                <a:solidFill>
                  <a:srgbClr val="2B3340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new Product(...) creates objects for Water, Chips, Juice and Chocolate.</a:t>
            </a:r>
            <a:endParaRPr>
              <a:solidFill>
                <a:srgbClr val="FFFFFF"/>
              </a:solidFill>
            </a:endParaRPr>
          </a:p>
          <a:p>
            <a:pPr>
              <a:spcAft>
                <a:spcPts val="700"/>
              </a:spcAft>
              <a:defRPr sz="1800">
                <a:solidFill>
                  <a:srgbClr val="2B3340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try-catch handles NumberFormatException when input is not a valid integer.</a:t>
            </a:r>
            <a:endParaRPr>
              <a:solidFill>
                <a:srgbClr val="FFFFFF"/>
              </a:solidFill>
            </a:endParaRPr>
          </a:p>
          <a:p>
            <a:pPr>
              <a:spcAft>
                <a:spcPts val="700"/>
              </a:spcAft>
              <a:defRPr sz="1800">
                <a:solidFill>
                  <a:srgbClr val="2B3340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IOException is caught if saving a transaction to the file fails.</a:t>
            </a:r>
            <a:endParaRPr>
              <a:solidFill>
                <a:srgbClr val="FFFFFF"/>
              </a:solidFill>
            </a:endParaRPr>
          </a:p>
          <a:p>
            <a:pPr>
              <a:spcBef>
                <a:spcPts val="800"/>
              </a:spcBef>
              <a:defRPr sz="1400" i="1">
                <a:solidFill>
                  <a:srgbClr val="5E6978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OOP benefit: each product keeps its related data together.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/>
          <a:p>
            <a:pPr>
              <a:defRPr sz="1000" b="0">
                <a:solidFill>
                  <a:srgbClr val="5E6978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15-10-2026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/>
          <a:p>
            <a:pPr>
              <a:defRPr sz="1000" b="0">
                <a:solidFill>
                  <a:srgbClr val="5E6978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7</a:t>
            </a:r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233D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09728"/>
            <a:ext cx="91440" cy="6748272"/>
          </a:xfrm>
          <a:prstGeom prst="rect">
            <a:avLst/>
          </a:prstGeom>
          <a:solidFill>
            <a:srgbClr val="487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510528"/>
            <a:ext cx="5303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BF3FF"/>
                </a:solidFill>
              </a:rPr>
              <a:t>VENDING MACHINE CONTROLLER SIMULATOR</a:t>
            </a:r>
            <a:endParaRPr sz="800" b="1">
              <a:solidFill>
                <a:srgbClr val="EBF3FF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C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8"/>
          <p:cNvSpPr/>
          <p:nvPr/>
        </p:nvSpPr>
        <p:spPr>
          <a:xfrm>
            <a:off x="9601200" y="3931920"/>
            <a:ext cx="3017520" cy="3017520"/>
          </a:xfrm>
          <a:prstGeom prst="ellipse">
            <a:avLst/>
          </a:prstGeom>
          <a:solidFill>
            <a:srgbClr val="4B8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arallelogram 7"/>
          <p:cNvSpPr/>
          <p:nvPr/>
        </p:nvSpPr>
        <p:spPr>
          <a:xfrm>
            <a:off x="7223760" y="0"/>
            <a:ext cx="4983480" cy="6858000"/>
          </a:xfrm>
          <a:prstGeom prst="parallelogram">
            <a:avLst/>
          </a:prstGeom>
          <a:solidFill>
            <a:srgbClr val="2243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1040" y="879856"/>
            <a:ext cx="10789920" cy="868680"/>
          </a:xfrm>
        </p:spPr>
        <p:txBody>
          <a:bodyPr wrap="square"/>
          <a:lstStyle/>
          <a:p>
            <a:pPr>
              <a:defRPr sz="2800" b="1">
                <a:solidFill>
                  <a:srgbClr val="162B4C"/>
                </a:solidFill>
                <a:latin typeface="Aptos"/>
              </a:defRPr>
            </a:pPr>
            <a:r>
              <a:rPr b="1" dirty="0">
                <a:solidFill>
                  <a:srgbClr val="FFFFFF"/>
                </a:solidFill>
              </a:rPr>
              <a:t>CO 5 • Strings &amp; File I/O</a:t>
            </a:r>
            <a:endParaRPr b="1" dirty="0">
              <a:solidFill>
                <a:srgbClr val="FFFF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146304" tIns="109728" rIns="146304" bIns="73152"/>
          <a:lstStyle/>
          <a:p>
            <a:pPr>
              <a:spcAft>
                <a:spcPts val="1000"/>
              </a:spcAft>
              <a:defRPr sz="2200" b="1">
                <a:solidFill>
                  <a:srgbClr val="1F9196"/>
                </a:solidFill>
                <a:latin typeface="Aptos Display"/>
              </a:defRPr>
            </a:pPr>
            <a:r>
              <a:rPr>
                <a:solidFill>
                  <a:srgbClr val="FFFFFF"/>
                </a:solidFill>
              </a:rPr>
              <a:t>CO 5 • Strings and file I/O</a:t>
            </a:r>
            <a:endParaRPr lang="en-IN"/>
          </a:p>
          <a:p>
            <a:pPr>
              <a:spcAft>
                <a:spcPts val="700"/>
              </a:spcAft>
              <a:defRPr sz="1800">
                <a:solidFill>
                  <a:srgbClr val="2B3340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String concatenation builds a readable transaction record.</a:t>
            </a:r>
            <a:endParaRPr>
              <a:solidFill>
                <a:srgbClr val="FFFFFF"/>
              </a:solidFill>
            </a:endParaRPr>
          </a:p>
          <a:p>
            <a:pPr>
              <a:spcAft>
                <a:spcPts val="700"/>
              </a:spcAft>
              <a:defRPr sz="1800">
                <a:solidFill>
                  <a:srgbClr val="2B3340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Path.of("transactions.txt") identifies the output file.</a:t>
            </a:r>
            <a:endParaRPr>
              <a:solidFill>
                <a:srgbClr val="FFFFFF"/>
              </a:solidFill>
            </a:endParaRPr>
          </a:p>
          <a:p>
            <a:pPr>
              <a:spcAft>
                <a:spcPts val="700"/>
              </a:spcAft>
              <a:defRPr sz="1800">
                <a:solidFill>
                  <a:srgbClr val="2B3340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Files.writeString(...) writes the transaction record.</a:t>
            </a:r>
            <a:endParaRPr>
              <a:solidFill>
                <a:srgbClr val="FFFFFF"/>
              </a:solidFill>
            </a:endParaRPr>
          </a:p>
          <a:p>
            <a:pPr>
              <a:spcAft>
                <a:spcPts val="700"/>
              </a:spcAft>
              <a:defRPr sz="1800">
                <a:solidFill>
                  <a:srgbClr val="2B3340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CREATE makes the file if it does not exist; APPEND preserves earlier records.</a:t>
            </a:r>
            <a:endParaRPr>
              <a:solidFill>
                <a:srgbClr val="FFFFFF"/>
              </a:solidFill>
            </a:endParaRPr>
          </a:p>
          <a:p>
            <a:pPr>
              <a:spcAft>
                <a:spcPts val="700"/>
              </a:spcAft>
              <a:defRPr sz="1800">
                <a:solidFill>
                  <a:srgbClr val="2B3340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Only successful purchases reach the file-writing statement.</a:t>
            </a:r>
            <a:endParaRPr>
              <a:solidFill>
                <a:srgbClr val="FFFFFF"/>
              </a:solidFill>
            </a:endParaRPr>
          </a:p>
          <a:p>
            <a:pPr>
              <a:spcBef>
                <a:spcPts val="800"/>
              </a:spcBef>
              <a:defRPr sz="1400" i="1">
                <a:solidFill>
                  <a:srgbClr val="5E6978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Example record: Water, Paid: Rs.50, Change: Rs.30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/>
          <a:p>
            <a:pPr>
              <a:defRPr sz="1000" b="0">
                <a:solidFill>
                  <a:srgbClr val="5E6978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15-10-2026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/>
          <a:p>
            <a:pPr>
              <a:defRPr sz="1000" b="0">
                <a:solidFill>
                  <a:srgbClr val="5E6978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8</a:t>
            </a:r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233D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09728"/>
            <a:ext cx="91440" cy="6748272"/>
          </a:xfrm>
          <a:prstGeom prst="rect">
            <a:avLst/>
          </a:prstGeom>
          <a:solidFill>
            <a:srgbClr val="487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510528"/>
            <a:ext cx="5303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BF3FF"/>
                </a:solidFill>
              </a:rPr>
              <a:t>VENDING MACHINE CONTROLLER SIMULATOR</a:t>
            </a:r>
            <a:endParaRPr sz="800" b="1">
              <a:solidFill>
                <a:srgbClr val="EBF3FF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C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8"/>
          <p:cNvSpPr/>
          <p:nvPr/>
        </p:nvSpPr>
        <p:spPr>
          <a:xfrm>
            <a:off x="9601200" y="3931920"/>
            <a:ext cx="3017520" cy="3017520"/>
          </a:xfrm>
          <a:prstGeom prst="ellipse">
            <a:avLst/>
          </a:prstGeom>
          <a:solidFill>
            <a:srgbClr val="4B8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arallelogram 7"/>
          <p:cNvSpPr/>
          <p:nvPr/>
        </p:nvSpPr>
        <p:spPr>
          <a:xfrm>
            <a:off x="7223760" y="0"/>
            <a:ext cx="4983480" cy="6858000"/>
          </a:xfrm>
          <a:prstGeom prst="parallelogram">
            <a:avLst/>
          </a:prstGeom>
          <a:solidFill>
            <a:srgbClr val="2243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1040" y="947166"/>
            <a:ext cx="10789920" cy="868680"/>
          </a:xfrm>
        </p:spPr>
        <p:txBody>
          <a:bodyPr wrap="square"/>
          <a:lstStyle/>
          <a:p>
            <a:pPr>
              <a:defRPr sz="2800" b="1">
                <a:solidFill>
                  <a:srgbClr val="162B4C"/>
                </a:solidFill>
                <a:latin typeface="Aptos"/>
              </a:defRPr>
            </a:pPr>
            <a:r>
              <a:rPr b="1" dirty="0">
                <a:solidFill>
                  <a:srgbClr val="FFFFFF"/>
                </a:solidFill>
              </a:rPr>
              <a:t>CO 6 • Testing &amp; Future Scope</a:t>
            </a:r>
            <a:endParaRPr b="1" dirty="0">
              <a:solidFill>
                <a:srgbClr val="FFFF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146304" tIns="109728" rIns="146304" bIns="73152"/>
          <a:lstStyle/>
          <a:p>
            <a:pPr>
              <a:spcAft>
                <a:spcPts val="1000"/>
              </a:spcAft>
              <a:defRPr sz="2200" b="1">
                <a:solidFill>
                  <a:srgbClr val="1F9196"/>
                </a:solidFill>
                <a:latin typeface="Aptos Display"/>
              </a:defRPr>
            </a:pPr>
            <a:r>
              <a:rPr>
                <a:solidFill>
                  <a:srgbClr val="FFFFFF"/>
                </a:solidFill>
              </a:rPr>
              <a:t>CO 6 • Testing and future enhancement</a:t>
            </a:r>
            <a:endParaRPr lang="en-IN"/>
          </a:p>
          <a:p>
            <a:pPr>
              <a:spcAft>
                <a:spcPts val="700"/>
              </a:spcAft>
              <a:defRPr sz="1700">
                <a:solidFill>
                  <a:srgbClr val="2B3340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Test a valid product choice and sufficient payment.</a:t>
            </a:r>
            <a:endParaRPr>
              <a:solidFill>
                <a:srgbClr val="FFFFFF"/>
              </a:solidFill>
            </a:endParaRPr>
          </a:p>
          <a:p>
            <a:pPr>
              <a:spcAft>
                <a:spcPts val="700"/>
              </a:spcAft>
              <a:defRPr sz="1700">
                <a:solidFill>
                  <a:srgbClr val="2B3340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Test insufficient payment and confirm the shortfall is displayed.</a:t>
            </a:r>
            <a:endParaRPr>
              <a:solidFill>
                <a:srgbClr val="FFFFFF"/>
              </a:solidFill>
            </a:endParaRPr>
          </a:p>
          <a:p>
            <a:pPr>
              <a:spcAft>
                <a:spcPts val="700"/>
              </a:spcAft>
              <a:defRPr sz="1700">
                <a:solidFill>
                  <a:srgbClr val="2B3340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Test an invalid menu choice and non-numeric input.</a:t>
            </a:r>
            <a:endParaRPr>
              <a:solidFill>
                <a:srgbClr val="FFFFFF"/>
              </a:solidFill>
            </a:endParaRPr>
          </a:p>
          <a:p>
            <a:pPr>
              <a:spcAft>
                <a:spcPts val="700"/>
              </a:spcAft>
              <a:defRPr sz="1700">
                <a:solidFill>
                  <a:srgbClr val="2B3340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Check that transactions.txt gains a new line after a successful purchase.</a:t>
            </a:r>
            <a:endParaRPr>
              <a:solidFill>
                <a:srgbClr val="FFFFFF"/>
              </a:solidFill>
            </a:endParaRPr>
          </a:p>
          <a:p>
            <a:pPr>
              <a:spcAft>
                <a:spcPts val="700"/>
              </a:spcAft>
              <a:defRPr sz="1700">
                <a:solidFill>
                  <a:srgbClr val="2B3340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Future enhancement: use HashMap to count sales and a Stream to display a sorted sales report.</a:t>
            </a:r>
            <a:endParaRPr>
              <a:solidFill>
                <a:srgbClr val="FFFFFF"/>
              </a:solidFill>
            </a:endParaRPr>
          </a:p>
          <a:p>
            <a:pPr>
              <a:spcBef>
                <a:spcPts val="800"/>
              </a:spcBef>
              <a:defRPr sz="1400" i="1">
                <a:solidFill>
                  <a:srgbClr val="5E6978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Note: collections and streams are proposed extensions; they are not implemented in the supplied code.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/>
          <a:p>
            <a:pPr>
              <a:defRPr sz="1000" b="0">
                <a:solidFill>
                  <a:srgbClr val="5E6978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15-10-2026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/>
          <a:p>
            <a:pPr>
              <a:defRPr sz="1000" b="0">
                <a:solidFill>
                  <a:srgbClr val="5E6978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9</a:t>
            </a:r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233D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09728"/>
            <a:ext cx="91440" cy="6748272"/>
          </a:xfrm>
          <a:prstGeom prst="rect">
            <a:avLst/>
          </a:prstGeom>
          <a:solidFill>
            <a:srgbClr val="487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510528"/>
            <a:ext cx="5303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BF3FF"/>
                </a:solidFill>
              </a:rPr>
              <a:t>VENDING MACHINE CONTROLLER SIMULATOR</a:t>
            </a:r>
            <a:endParaRPr sz="800" b="1">
              <a:solidFill>
                <a:srgbClr val="EBF3FF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C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8"/>
          <p:cNvSpPr/>
          <p:nvPr/>
        </p:nvSpPr>
        <p:spPr>
          <a:xfrm>
            <a:off x="9601200" y="3931920"/>
            <a:ext cx="3017520" cy="3017520"/>
          </a:xfrm>
          <a:prstGeom prst="ellipse">
            <a:avLst/>
          </a:prstGeom>
          <a:solidFill>
            <a:srgbClr val="4B8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arallelogram 7"/>
          <p:cNvSpPr/>
          <p:nvPr/>
        </p:nvSpPr>
        <p:spPr>
          <a:xfrm>
            <a:off x="7223760" y="0"/>
            <a:ext cx="4983480" cy="6858000"/>
          </a:xfrm>
          <a:prstGeom prst="parallelogram">
            <a:avLst/>
          </a:prstGeom>
          <a:solidFill>
            <a:srgbClr val="2243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79856"/>
            <a:ext cx="10789920" cy="868680"/>
          </a:xfrm>
        </p:spPr>
        <p:txBody>
          <a:bodyPr wrap="square"/>
          <a:lstStyle/>
          <a:p>
            <a:pPr>
              <a:defRPr sz="2800" b="1">
                <a:solidFill>
                  <a:srgbClr val="162B4C"/>
                </a:solidFill>
                <a:latin typeface="Aptos"/>
              </a:defRPr>
            </a:pPr>
            <a:r>
              <a:rPr b="1" dirty="0">
                <a:solidFill>
                  <a:srgbClr val="FFFFFF"/>
                </a:solidFill>
              </a:rPr>
              <a:t>Conclusion</a:t>
            </a:r>
            <a:endParaRPr b="1" dirty="0">
              <a:solidFill>
                <a:srgbClr val="FFFF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146304" tIns="109728" rIns="146304" bIns="73152"/>
          <a:lstStyle/>
          <a:p>
            <a:pPr>
              <a:spcAft>
                <a:spcPts val="1000"/>
              </a:spcAft>
              <a:defRPr sz="2200" b="1">
                <a:solidFill>
                  <a:srgbClr val="1F9196"/>
                </a:solidFill>
                <a:latin typeface="Aptos Display"/>
              </a:defRPr>
            </a:pPr>
            <a:r>
              <a:rPr>
                <a:solidFill>
                  <a:srgbClr val="FFFFFF"/>
                </a:solidFill>
              </a:rPr>
              <a:t>Conclusion</a:t>
            </a:r>
            <a:endParaRPr lang="en-IN"/>
          </a:p>
          <a:p>
            <a:pPr>
              <a:spcAft>
                <a:spcPts val="700"/>
              </a:spcAft>
              <a:defRPr sz="1800">
                <a:solidFill>
                  <a:srgbClr val="2B3340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The simulator demonstrates a complete basic purchase flow in Java.</a:t>
            </a:r>
            <a:endParaRPr>
              <a:solidFill>
                <a:srgbClr val="FFFFFF"/>
              </a:solidFill>
            </a:endParaRPr>
          </a:p>
          <a:p>
            <a:pPr>
              <a:spcAft>
                <a:spcPts val="700"/>
              </a:spcAft>
              <a:defRPr sz="1800">
                <a:solidFill>
                  <a:srgbClr val="2B3340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It combines console input, product objects, arrays and control-flow statements.</a:t>
            </a:r>
            <a:endParaRPr>
              <a:solidFill>
                <a:srgbClr val="FFFFFF"/>
              </a:solidFill>
            </a:endParaRPr>
          </a:p>
          <a:p>
            <a:pPr>
              <a:spcAft>
                <a:spcPts val="700"/>
              </a:spcAft>
              <a:defRPr sz="1800">
                <a:solidFill>
                  <a:srgbClr val="2B3340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It validates menu selections and checks whether the payment covers the price.</a:t>
            </a:r>
            <a:endParaRPr>
              <a:solidFill>
                <a:srgbClr val="FFFFFF"/>
              </a:solidFill>
            </a:endParaRPr>
          </a:p>
          <a:p>
            <a:pPr>
              <a:spcAft>
                <a:spcPts val="700"/>
              </a:spcAft>
              <a:defRPr sz="1800">
                <a:solidFill>
                  <a:srgbClr val="2B3340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It calculates change and records successful transactions in a text file.</a:t>
            </a:r>
            <a:endParaRPr>
              <a:solidFill>
                <a:srgbClr val="FFFFFF"/>
              </a:solidFill>
            </a:endParaRPr>
          </a:p>
          <a:p>
            <a:pPr>
              <a:spcAft>
                <a:spcPts val="700"/>
              </a:spcAft>
              <a:defRPr sz="1800">
                <a:solidFill>
                  <a:srgbClr val="2B3340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The project can be extended with stock tracking, refunds, reports and a graphical interface.</a:t>
            </a:r>
            <a:endParaRPr>
              <a:solidFill>
                <a:srgbClr val="FFFFFF"/>
              </a:solidFill>
            </a:endParaRPr>
          </a:p>
          <a:p>
            <a:pPr>
              <a:spcBef>
                <a:spcPts val="800"/>
              </a:spcBef>
              <a:defRPr sz="1400" i="1">
                <a:solidFill>
                  <a:srgbClr val="5E6978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Key learning: connecting Java fundamentals to a practical, everyday system.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/>
          <a:p>
            <a:pPr>
              <a:defRPr sz="1000" b="0">
                <a:solidFill>
                  <a:srgbClr val="5E6978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15-10-2026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/>
          <a:p>
            <a:pPr>
              <a:defRPr sz="1000" b="0">
                <a:solidFill>
                  <a:srgbClr val="5E6978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10</a:t>
            </a:r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233D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09728"/>
            <a:ext cx="91440" cy="6748272"/>
          </a:xfrm>
          <a:prstGeom prst="rect">
            <a:avLst/>
          </a:prstGeom>
          <a:solidFill>
            <a:srgbClr val="487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510528"/>
            <a:ext cx="5303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BF3FF"/>
                </a:solidFill>
              </a:rPr>
              <a:t>VENDING MACHINE CONTROLLER SIMULATOR</a:t>
            </a:r>
            <a:endParaRPr sz="800" b="1">
              <a:solidFill>
                <a:srgbClr val="EBF3FF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C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/>
          <p:cNvSpPr/>
          <p:nvPr/>
        </p:nvSpPr>
        <p:spPr>
          <a:xfrm>
            <a:off x="9601200" y="3931920"/>
            <a:ext cx="3017520" cy="3017520"/>
          </a:xfrm>
          <a:prstGeom prst="ellipse">
            <a:avLst/>
          </a:prstGeom>
          <a:solidFill>
            <a:srgbClr val="4B8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arallelogram 12"/>
          <p:cNvSpPr/>
          <p:nvPr/>
        </p:nvSpPr>
        <p:spPr>
          <a:xfrm>
            <a:off x="7223760" y="0"/>
            <a:ext cx="4983480" cy="6858000"/>
          </a:xfrm>
          <a:prstGeom prst="parallelogram">
            <a:avLst/>
          </a:prstGeom>
          <a:solidFill>
            <a:srgbClr val="2243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1040" y="845820"/>
            <a:ext cx="10789920" cy="868680"/>
          </a:xfrm>
        </p:spPr>
        <p:txBody>
          <a:bodyPr wrap="square"/>
          <a:lstStyle/>
          <a:p>
            <a:pPr>
              <a:defRPr sz="2800" b="1">
                <a:solidFill>
                  <a:srgbClr val="162B4C"/>
                </a:solidFill>
                <a:latin typeface="Aptos"/>
              </a:defRPr>
            </a:pPr>
            <a:r>
              <a:rPr b="1" dirty="0">
                <a:solidFill>
                  <a:srgbClr val="FFFFFF"/>
                </a:solidFill>
              </a:rPr>
              <a:t>Screen Shots • Sample Program Output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/>
          <a:p>
            <a:pPr>
              <a:defRPr sz="1000" b="0">
                <a:solidFill>
                  <a:srgbClr val="5E6978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15-10-2026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/>
          <a:p>
            <a:pPr>
              <a:defRPr sz="1000" b="0">
                <a:solidFill>
                  <a:srgbClr val="5E6978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11</a:t>
            </a:r>
            <a:endParaRPr lang="en-IN"/>
          </a:p>
        </p:txBody>
      </p:sp>
      <p:pic>
        <p:nvPicPr>
          <p:cNvPr id="6" name="Picture 5" descr="vending_demo_outpu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874519"/>
            <a:ext cx="5577840" cy="3337560"/>
          </a:xfrm>
          <a:prstGeom prst="rect">
            <a:avLst/>
          </a:prstGeom>
        </p:spPr>
      </p:pic>
      <p:pic>
        <p:nvPicPr>
          <p:cNvPr id="7" name="Picture 6" descr="vending_transaction_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377439"/>
            <a:ext cx="5074920" cy="2468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5285232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62B4C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1. Product selection and payment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46520" y="484632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62B4C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2. Transaction log saved to file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46520" y="5349240"/>
            <a:ext cx="4800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E6978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Illustrative sample output — run the Java program to capture actual screenshots.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233D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109728"/>
            <a:ext cx="91440" cy="6748272"/>
          </a:xfrm>
          <a:prstGeom prst="rect">
            <a:avLst/>
          </a:prstGeom>
          <a:solidFill>
            <a:srgbClr val="487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6510528"/>
            <a:ext cx="5303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BF3FF"/>
                </a:solidFill>
              </a:rPr>
              <a:t>VENDING MACHINE CONTROLLER SIMULATOR</a:t>
            </a:r>
            <a:endParaRPr sz="800" b="1">
              <a:solidFill>
                <a:srgbClr val="EBF3FF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549C3-E12B-4CC2-9FA1-D4C0643B7241}" type="datetime1">
              <a:rPr lang="en-IN" smtClean="0"/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</a:fld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5140</Words>
  <Application>WPS Presentation</Application>
  <PresentationFormat>Widescreen</PresentationFormat>
  <Paragraphs>179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2" baseType="lpstr">
      <vt:lpstr>Arial</vt:lpstr>
      <vt:lpstr>SimSun</vt:lpstr>
      <vt:lpstr>Wingdings</vt:lpstr>
      <vt:lpstr>Aptos</vt:lpstr>
      <vt:lpstr>Segoe UI</vt:lpstr>
      <vt:lpstr>Aptos Display</vt:lpstr>
      <vt:lpstr>Microsoft YaHei</vt:lpstr>
      <vt:lpstr>Arial Unicode MS</vt:lpstr>
      <vt:lpstr>Segoe UI Variable Display</vt:lpstr>
      <vt:lpstr>Office Theme</vt:lpstr>
      <vt:lpstr>CONTROLLER SIMULATOR</vt:lpstr>
      <vt:lpstr>Abstract</vt:lpstr>
      <vt:lpstr>Understanding the Problem Statement</vt:lpstr>
      <vt:lpstr>CO 1 Topics • Java Foundations</vt:lpstr>
      <vt:lpstr>CO 2 Topics • Control Flow</vt:lpstr>
      <vt:lpstr>CO 3 Topics • Methods &amp; Arrays</vt:lpstr>
      <vt:lpstr>CO 4 • OOP &amp; Exception Handling</vt:lpstr>
      <vt:lpstr>CO 5 • Strings &amp; File I/O</vt:lpstr>
      <vt:lpstr>CO 6 • Testing &amp; Future Scope</vt:lpstr>
      <vt:lpstr>Conclusion</vt:lpstr>
      <vt:lpstr>Screen Shots • Sample Program Output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TSP MADHURI</dc:creator>
  <cp:lastModifiedBy>Rishitha Gaddam</cp:lastModifiedBy>
  <cp:revision>4</cp:revision>
  <dcterms:created xsi:type="dcterms:W3CDTF">2026-09-15T09:57:00Z</dcterms:created>
  <dcterms:modified xsi:type="dcterms:W3CDTF">2026-10-16T06:17:06Z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FCA7632E39CA4D1EB7D7DA8506737C2D_13</vt:lpwstr>
  </property>
  <property fmtid="{D5CDD505-2E9C-101B-9397-08002B2CF9AE}" pid="3" name="KSOProductBuildVer">
    <vt:lpwstr>1033-12.1.0.29162</vt:lpwstr>
  </property>
</Properties>
</file>